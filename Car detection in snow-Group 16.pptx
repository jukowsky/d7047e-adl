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0" r:id="rId6"/>
    <p:sldId id="259" r:id="rId7"/>
    <p:sldId id="270" r:id="rId8"/>
    <p:sldId id="271" r:id="rId9"/>
    <p:sldId id="263" r:id="rId10"/>
    <p:sldId id="276" r:id="rId11"/>
    <p:sldId id="265" r:id="rId12"/>
    <p:sldId id="266" r:id="rId13"/>
    <p:sldId id="267" r:id="rId14"/>
    <p:sldId id="268" r:id="rId15"/>
    <p:sldId id="269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BC697-C9AE-842B-55CF-8F203BF639C1}" v="222" dt="2025-05-18T15:59:10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man Abdul Aziz" userId="S::abuama-4@student.ltu.se::b378533c-0f1b-4a98-a8b7-ab472b7cd474" providerId="AD" clId="Web-{076BC697-C9AE-842B-55CF-8F203BF639C1}"/>
    <pc:docChg chg="addSld delSld modSld sldOrd">
      <pc:chgData name="Ayman Abdul Aziz" userId="S::abuama-4@student.ltu.se::b378533c-0f1b-4a98-a8b7-ab472b7cd474" providerId="AD" clId="Web-{076BC697-C9AE-842B-55CF-8F203BF639C1}" dt="2025-05-18T15:59:10.574" v="218"/>
      <pc:docMkLst>
        <pc:docMk/>
      </pc:docMkLst>
      <pc:sldChg chg="modSp">
        <pc:chgData name="Ayman Abdul Aziz" userId="S::abuama-4@student.ltu.se::b378533c-0f1b-4a98-a8b7-ab472b7cd474" providerId="AD" clId="Web-{076BC697-C9AE-842B-55CF-8F203BF639C1}" dt="2025-05-18T15:23:10.128" v="83" actId="20577"/>
        <pc:sldMkLst>
          <pc:docMk/>
          <pc:sldMk cId="1819359268" sldId="256"/>
        </pc:sldMkLst>
        <pc:spChg chg="mod">
          <ac:chgData name="Ayman Abdul Aziz" userId="S::abuama-4@student.ltu.se::b378533c-0f1b-4a98-a8b7-ab472b7cd474" providerId="AD" clId="Web-{076BC697-C9AE-842B-55CF-8F203BF639C1}" dt="2025-05-18T15:23:10.128" v="83" actId="20577"/>
          <ac:spMkLst>
            <pc:docMk/>
            <pc:sldMk cId="1819359268" sldId="256"/>
            <ac:spMk id="3" creationId="{2E78725B-6E40-4D82-B375-7831D81C29EE}"/>
          </ac:spMkLst>
        </pc:spChg>
      </pc:sldChg>
      <pc:sldChg chg="modSp del">
        <pc:chgData name="Ayman Abdul Aziz" userId="S::abuama-4@student.ltu.se::b378533c-0f1b-4a98-a8b7-ab472b7cd474" providerId="AD" clId="Web-{076BC697-C9AE-842B-55CF-8F203BF639C1}" dt="2025-05-18T15:59:10.574" v="218"/>
        <pc:sldMkLst>
          <pc:docMk/>
          <pc:sldMk cId="2172179498" sldId="258"/>
        </pc:sldMkLst>
        <pc:spChg chg="mod">
          <ac:chgData name="Ayman Abdul Aziz" userId="S::abuama-4@student.ltu.se::b378533c-0f1b-4a98-a8b7-ab472b7cd474" providerId="AD" clId="Web-{076BC697-C9AE-842B-55CF-8F203BF639C1}" dt="2025-05-18T15:24:11.847" v="142" actId="20577"/>
          <ac:spMkLst>
            <pc:docMk/>
            <pc:sldMk cId="2172179498" sldId="258"/>
            <ac:spMk id="3" creationId="{143F5361-68C0-4BF5-80C8-F1E7BF92B2DB}"/>
          </ac:spMkLst>
        </pc:spChg>
      </pc:sldChg>
      <pc:sldChg chg="del">
        <pc:chgData name="Ayman Abdul Aziz" userId="S::abuama-4@student.ltu.se::b378533c-0f1b-4a98-a8b7-ab472b7cd474" providerId="AD" clId="Web-{076BC697-C9AE-842B-55CF-8F203BF639C1}" dt="2025-05-18T15:55:12.623" v="216"/>
        <pc:sldMkLst>
          <pc:docMk/>
          <pc:sldMk cId="1348318116" sldId="261"/>
        </pc:sldMkLst>
      </pc:sldChg>
      <pc:sldChg chg="del">
        <pc:chgData name="Ayman Abdul Aziz" userId="S::abuama-4@student.ltu.se::b378533c-0f1b-4a98-a8b7-ab472b7cd474" providerId="AD" clId="Web-{076BC697-C9AE-842B-55CF-8F203BF639C1}" dt="2025-05-18T15:49:26.094" v="143"/>
        <pc:sldMkLst>
          <pc:docMk/>
          <pc:sldMk cId="2919556985" sldId="262"/>
        </pc:sldMkLst>
      </pc:sldChg>
      <pc:sldChg chg="modSp ord">
        <pc:chgData name="Ayman Abdul Aziz" userId="S::abuama-4@student.ltu.se::b378533c-0f1b-4a98-a8b7-ab472b7cd474" providerId="AD" clId="Web-{076BC697-C9AE-842B-55CF-8F203BF639C1}" dt="2025-05-18T15:54:24.717" v="196" actId="20577"/>
        <pc:sldMkLst>
          <pc:docMk/>
          <pc:sldMk cId="1902613301" sldId="263"/>
        </pc:sldMkLst>
        <pc:spChg chg="mod">
          <ac:chgData name="Ayman Abdul Aziz" userId="S::abuama-4@student.ltu.se::b378533c-0f1b-4a98-a8b7-ab472b7cd474" providerId="AD" clId="Web-{076BC697-C9AE-842B-55CF-8F203BF639C1}" dt="2025-05-18T15:54:24.717" v="196" actId="20577"/>
          <ac:spMkLst>
            <pc:docMk/>
            <pc:sldMk cId="1902613301" sldId="263"/>
            <ac:spMk id="3" creationId="{143F5361-68C0-4BF5-80C8-F1E7BF92B2DB}"/>
          </ac:spMkLst>
        </pc:spChg>
      </pc:sldChg>
      <pc:sldChg chg="del">
        <pc:chgData name="Ayman Abdul Aziz" userId="S::abuama-4@student.ltu.se::b378533c-0f1b-4a98-a8b7-ab472b7cd474" providerId="AD" clId="Web-{076BC697-C9AE-842B-55CF-8F203BF639C1}" dt="2025-05-18T15:09:30.690" v="0"/>
        <pc:sldMkLst>
          <pc:docMk/>
          <pc:sldMk cId="762945250" sldId="264"/>
        </pc:sldMkLst>
      </pc:sldChg>
      <pc:sldChg chg="ord">
        <pc:chgData name="Ayman Abdul Aziz" userId="S::abuama-4@student.ltu.se::b378533c-0f1b-4a98-a8b7-ab472b7cd474" providerId="AD" clId="Web-{076BC697-C9AE-842B-55CF-8F203BF639C1}" dt="2025-05-18T15:52:01.859" v="147"/>
        <pc:sldMkLst>
          <pc:docMk/>
          <pc:sldMk cId="2866183481" sldId="265"/>
        </pc:sldMkLst>
      </pc:sldChg>
      <pc:sldChg chg="del">
        <pc:chgData name="Ayman Abdul Aziz" userId="S::abuama-4@student.ltu.se::b378533c-0f1b-4a98-a8b7-ab472b7cd474" providerId="AD" clId="Web-{076BC697-C9AE-842B-55CF-8F203BF639C1}" dt="2025-05-18T15:55:14.889" v="217"/>
        <pc:sldMkLst>
          <pc:docMk/>
          <pc:sldMk cId="3662098166" sldId="275"/>
        </pc:sldMkLst>
      </pc:sldChg>
      <pc:sldChg chg="delSp modSp new">
        <pc:chgData name="Ayman Abdul Aziz" userId="S::abuama-4@student.ltu.se::b378533c-0f1b-4a98-a8b7-ab472b7cd474" providerId="AD" clId="Web-{076BC697-C9AE-842B-55CF-8F203BF639C1}" dt="2025-05-18T15:54:55.561" v="215" actId="1076"/>
        <pc:sldMkLst>
          <pc:docMk/>
          <pc:sldMk cId="1694475459" sldId="276"/>
        </pc:sldMkLst>
        <pc:spChg chg="mod">
          <ac:chgData name="Ayman Abdul Aziz" userId="S::abuama-4@student.ltu.se::b378533c-0f1b-4a98-a8b7-ab472b7cd474" providerId="AD" clId="Web-{076BC697-C9AE-842B-55CF-8F203BF639C1}" dt="2025-05-18T15:54:55.561" v="215" actId="1076"/>
          <ac:spMkLst>
            <pc:docMk/>
            <pc:sldMk cId="1694475459" sldId="276"/>
            <ac:spMk id="2" creationId="{FD9F1CA9-2872-8B62-618F-A0879F95AFB4}"/>
          </ac:spMkLst>
        </pc:spChg>
        <pc:spChg chg="del">
          <ac:chgData name="Ayman Abdul Aziz" userId="S::abuama-4@student.ltu.se::b378533c-0f1b-4a98-a8b7-ab472b7cd474" providerId="AD" clId="Web-{076BC697-C9AE-842B-55CF-8F203BF639C1}" dt="2025-05-18T15:54:49.186" v="214"/>
          <ac:spMkLst>
            <pc:docMk/>
            <pc:sldMk cId="1694475459" sldId="276"/>
            <ac:spMk id="3" creationId="{BF01727B-99A8-3370-15AB-CFBC7C1F7D8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/>
      <dgm:spPr/>
      <dgm:t>
        <a:bodyPr/>
        <a:lstStyle/>
        <a:p>
          <a:r>
            <a:rPr lang="en-US" b="1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YOLOv9</a:t>
          </a: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Built by </a:t>
          </a:r>
          <a:r>
            <a:rPr lang="en-US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Ultralytics</a:t>
          </a: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with focus on accuracy &amp; speed</a:t>
          </a: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B6B39D33-D046-47BE-829F-7DE9C1355A93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Introduces PGI (Programmable Gradient Info) and GELAN (Generalized Efficient Layer Aggregation Network).</a:t>
          </a:r>
        </a:p>
      </dgm:t>
    </dgm:pt>
    <dgm:pt modelId="{E15A7BCB-F8C9-469E-AAD5-364C09881B8A}" type="parTrans" cxnId="{877B3C1A-839E-4419-A916-B4E946768D4D}">
      <dgm:prSet/>
      <dgm:spPr/>
      <dgm:t>
        <a:bodyPr/>
        <a:lstStyle/>
        <a:p>
          <a:endParaRPr lang="en-US"/>
        </a:p>
      </dgm:t>
    </dgm:pt>
    <dgm:pt modelId="{AC756B1C-E9B8-4AF1-AAAF-F8402FE8B80B}" type="sibTrans" cxnId="{877B3C1A-839E-4419-A916-B4E946768D4D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/>
      <dgm:spPr/>
      <dgm:t>
        <a:bodyPr/>
        <a:lstStyle/>
        <a:p>
          <a:r>
            <a:rPr lang="en-US" b="1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YOLOv10</a:t>
          </a: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A84AA4D5-2E69-4308-B848-AF7C866DBA37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Released by Tsinghua University in 2024</a:t>
          </a:r>
        </a:p>
      </dgm:t>
    </dgm:pt>
    <dgm:pt modelId="{5AA60D0F-7C99-4FA0-90CA-9CD92DBEF3B7}" type="parTrans" cxnId="{E785B928-0A23-43BA-9D0D-4355335BED79}">
      <dgm:prSet/>
      <dgm:spPr/>
      <dgm:t>
        <a:bodyPr/>
        <a:lstStyle/>
        <a:p>
          <a:endParaRPr lang="en-US"/>
        </a:p>
      </dgm:t>
    </dgm:pt>
    <dgm:pt modelId="{195A1AC7-FDFE-47D0-B6D9-46AB9BA4736B}" type="sibTrans" cxnId="{E785B928-0A23-43BA-9D0D-4355335BED79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/>
      <dgm:spPr/>
      <dgm:t>
        <a:bodyPr/>
        <a:lstStyle/>
        <a:p>
          <a:r>
            <a:rPr lang="en-US" b="1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YOLOv11</a:t>
          </a: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6EE89B4E-BAED-4A90-B29D-70AF11256801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Latest </a:t>
          </a:r>
          <a:r>
            <a:rPr lang="en-US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Ultralytics</a:t>
          </a: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model (May 2024)</a:t>
          </a:r>
        </a:p>
      </dgm:t>
    </dgm:pt>
    <dgm:pt modelId="{39BF20C7-31E5-452B-8EA2-17224A13C7FB}" type="parTrans" cxnId="{CA949A5F-9945-4C59-A233-D70AFFF70BDA}">
      <dgm:prSet/>
      <dgm:spPr/>
      <dgm:t>
        <a:bodyPr/>
        <a:lstStyle/>
        <a:p>
          <a:endParaRPr lang="en-US"/>
        </a:p>
      </dgm:t>
    </dgm:pt>
    <dgm:pt modelId="{E71503C3-CFB7-4144-AD9F-7A42A87A3A6B}" type="sibTrans" cxnId="{CA949A5F-9945-4C59-A233-D70AFFF70BDA}">
      <dgm:prSet/>
      <dgm:spPr/>
      <dgm:t>
        <a:bodyPr/>
        <a:lstStyle/>
        <a:p>
          <a:endParaRPr lang="en-US"/>
        </a:p>
      </dgm:t>
    </dgm:pt>
    <dgm:pt modelId="{1DB2AC88-0FC5-4533-85C1-36171D2660E7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Good balance of size, performance and generalization</a:t>
          </a:r>
        </a:p>
      </dgm:t>
    </dgm:pt>
    <dgm:pt modelId="{87C55F37-2382-44B0-BFA2-8D4391C16F4D}" type="parTrans" cxnId="{DEB53E8F-DC19-4F69-9659-DBCB21652871}">
      <dgm:prSet/>
      <dgm:spPr/>
      <dgm:t>
        <a:bodyPr/>
        <a:lstStyle/>
        <a:p>
          <a:endParaRPr lang="en-SG"/>
        </a:p>
      </dgm:t>
    </dgm:pt>
    <dgm:pt modelId="{51008CD8-B54E-4DA6-ADD1-FF03FB61176A}" type="sibTrans" cxnId="{DEB53E8F-DC19-4F69-9659-DBCB21652871}">
      <dgm:prSet/>
      <dgm:spPr/>
      <dgm:t>
        <a:bodyPr/>
        <a:lstStyle/>
        <a:p>
          <a:endParaRPr lang="en-SG"/>
        </a:p>
      </dgm:t>
    </dgm:pt>
    <dgm:pt modelId="{88AD6A08-E417-4791-BE69-D194D2916E2E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End-to-end detection without Non-Max Suppression (NMS)</a:t>
          </a:r>
        </a:p>
      </dgm:t>
    </dgm:pt>
    <dgm:pt modelId="{34CC98A2-762A-4D56-B1FF-6154FB1B3C87}" type="parTrans" cxnId="{302D0523-911B-42A0-8ECC-C67580DDDA35}">
      <dgm:prSet/>
      <dgm:spPr/>
      <dgm:t>
        <a:bodyPr/>
        <a:lstStyle/>
        <a:p>
          <a:endParaRPr lang="en-SG"/>
        </a:p>
      </dgm:t>
    </dgm:pt>
    <dgm:pt modelId="{4BB00058-589E-47A5-BFA2-3CF55B5B2B1E}" type="sibTrans" cxnId="{302D0523-911B-42A0-8ECC-C67580DDDA35}">
      <dgm:prSet/>
      <dgm:spPr/>
      <dgm:t>
        <a:bodyPr/>
        <a:lstStyle/>
        <a:p>
          <a:endParaRPr lang="en-SG"/>
        </a:p>
      </dgm:t>
    </dgm:pt>
    <dgm:pt modelId="{83FBC365-F362-43B9-AB51-E86FF53F37E4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Highly efficient – fast inference but may result in lower accuracy</a:t>
          </a:r>
        </a:p>
      </dgm:t>
    </dgm:pt>
    <dgm:pt modelId="{2E2E6F58-DDF6-40D7-92DB-62DEB42084F2}" type="parTrans" cxnId="{2BB7FF46-B9CC-47C2-9BFC-7C69BEA9538A}">
      <dgm:prSet/>
      <dgm:spPr/>
      <dgm:t>
        <a:bodyPr/>
        <a:lstStyle/>
        <a:p>
          <a:endParaRPr lang="en-SG"/>
        </a:p>
      </dgm:t>
    </dgm:pt>
    <dgm:pt modelId="{EB06FF08-67CE-47C1-A341-15BAF29071F4}" type="sibTrans" cxnId="{2BB7FF46-B9CC-47C2-9BFC-7C69BEA9538A}">
      <dgm:prSet/>
      <dgm:spPr/>
      <dgm:t>
        <a:bodyPr/>
        <a:lstStyle/>
        <a:p>
          <a:endParaRPr lang="en-SG"/>
        </a:p>
      </dgm:t>
    </dgm:pt>
    <dgm:pt modelId="{8F7DDBE9-E69B-4FF7-B9EA-C994E09E3B51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Enhance multi-task support (detection, segmentation, classification)</a:t>
          </a:r>
        </a:p>
      </dgm:t>
    </dgm:pt>
    <dgm:pt modelId="{3A4C3FB2-416E-4C44-9332-718025D45EE4}" type="parTrans" cxnId="{9D541623-F0EF-4ABD-A247-A3A21B8856A0}">
      <dgm:prSet/>
      <dgm:spPr/>
      <dgm:t>
        <a:bodyPr/>
        <a:lstStyle/>
        <a:p>
          <a:endParaRPr lang="en-SG"/>
        </a:p>
      </dgm:t>
    </dgm:pt>
    <dgm:pt modelId="{77EB0C8C-0582-4F4E-ACE5-BCD60B24C3B2}" type="sibTrans" cxnId="{9D541623-F0EF-4ABD-A247-A3A21B8856A0}">
      <dgm:prSet/>
      <dgm:spPr/>
      <dgm:t>
        <a:bodyPr/>
        <a:lstStyle/>
        <a:p>
          <a:endParaRPr lang="en-SG"/>
        </a:p>
      </dgm:t>
    </dgm:pt>
    <dgm:pt modelId="{772AE2A8-AE17-49FF-B8F7-9F8898CED47C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Strong architecture, but less stable on our snow dataset</a:t>
          </a:r>
        </a:p>
      </dgm:t>
    </dgm:pt>
    <dgm:pt modelId="{5CAD4163-199F-43D5-BE05-9740B5D9BBE4}" type="parTrans" cxnId="{8F8B6811-340B-4DF9-BABC-2FCB2F5BDA79}">
      <dgm:prSet/>
      <dgm:spPr/>
      <dgm:t>
        <a:bodyPr/>
        <a:lstStyle/>
        <a:p>
          <a:endParaRPr lang="en-SG"/>
        </a:p>
      </dgm:t>
    </dgm:pt>
    <dgm:pt modelId="{25AF285A-8CD5-4D23-B923-D7FEE90DD978}" type="sibTrans" cxnId="{8F8B6811-340B-4DF9-BABC-2FCB2F5BDA79}">
      <dgm:prSet/>
      <dgm:spPr/>
      <dgm:t>
        <a:bodyPr/>
        <a:lstStyle/>
        <a:p>
          <a:endParaRPr lang="en-SG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7CA1487-CDD9-4364-92F6-A11DBDAFE16C}" type="pres">
      <dgm:prSet presAssocID="{6857B86A-DEC1-407C-A1BB-5BF9ACCBCA6A}" presName="desTx" presStyleLbl="alignAccFollowNode1" presStyleIdx="0" presStyleCnt="3">
        <dgm:presLayoutVars>
          <dgm:bulletEnabled val="1"/>
        </dgm:presLayoutVars>
      </dgm:prSet>
      <dgm:spPr/>
    </dgm:pt>
    <dgm:pt modelId="{3FA24A66-31D3-4A69-B628-8BE88627B97D}" type="pres">
      <dgm:prSet presAssocID="{F087F24E-A7D7-4DCE-B2A7-9B941289621A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4FD5043-5612-43C5-B6AE-CCD431549399}" type="pres">
      <dgm:prSet presAssocID="{ABA77F75-8642-4931-8D7E-BE6C6DB9940D}" presName="desTx" presStyleLbl="alignAccFollowNode1" presStyleIdx="1" presStyleCnt="3">
        <dgm:presLayoutVars>
          <dgm:bulletEnabled val="1"/>
        </dgm:presLayoutVars>
      </dgm:prSet>
      <dgm:spPr/>
    </dgm:pt>
    <dgm:pt modelId="{3E20F600-AFBC-427F-8295-F096F694BC17}" type="pres">
      <dgm:prSet presAssocID="{1A095211-ADB0-42CA-9F24-F1BC942872F3}" presName="space" presStyleCnt="0"/>
      <dgm:spPr/>
    </dgm:pt>
    <dgm:pt modelId="{173DA3A6-F783-42D4-9ED8-FD330979BCEA}" type="pres">
      <dgm:prSet presAssocID="{DA5DFAD8-E443-4F53-9341-A0903BBBD378}" presName="composite" presStyleCnt="0"/>
      <dgm:spPr/>
    </dgm:pt>
    <dgm:pt modelId="{23D06E36-F688-4B37-8BB8-73015E665B0E}" type="pres">
      <dgm:prSet presAssocID="{DA5DFAD8-E443-4F53-9341-A0903BBBD37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A81ED6A-A7EA-4137-A3DC-D16E79F1B938}" type="pres">
      <dgm:prSet presAssocID="{DA5DFAD8-E443-4F53-9341-A0903BBBD37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15558403-8721-4CBE-97C1-25F56F385AD1}" type="presOf" srcId="{A84AA4D5-2E69-4308-B848-AF7C866DBA37}" destId="{E4FD5043-5612-43C5-B6AE-CCD431549399}" srcOrd="0" destOrd="0" presId="urn:microsoft.com/office/officeart/2005/8/layout/hList1"/>
    <dgm:cxn modelId="{8F8B6811-340B-4DF9-BABC-2FCB2F5BDA79}" srcId="{DA5DFAD8-E443-4F53-9341-A0903BBBD378}" destId="{772AE2A8-AE17-49FF-B8F7-9F8898CED47C}" srcOrd="2" destOrd="0" parTransId="{5CAD4163-199F-43D5-BE05-9740B5D9BBE4}" sibTransId="{25AF285A-8CD5-4D23-B923-D7FEE90DD978}"/>
    <dgm:cxn modelId="{877B3C1A-839E-4419-A916-B4E946768D4D}" srcId="{6857B86A-DEC1-407C-A1BB-5BF9ACCBCA6A}" destId="{B6B39D33-D046-47BE-829F-7DE9C1355A93}" srcOrd="1" destOrd="0" parTransId="{E15A7BCB-F8C9-469E-AAD5-364C09881B8A}" sibTransId="{AC756B1C-E9B8-4AF1-AAAF-F8402FE8B80B}"/>
    <dgm:cxn modelId="{302D0523-911B-42A0-8ECC-C67580DDDA35}" srcId="{ABA77F75-8642-4931-8D7E-BE6C6DB9940D}" destId="{88AD6A08-E417-4791-BE69-D194D2916E2E}" srcOrd="1" destOrd="0" parTransId="{34CC98A2-762A-4D56-B1FF-6154FB1B3C87}" sibTransId="{4BB00058-589E-47A5-BFA2-3CF55B5B2B1E}"/>
    <dgm:cxn modelId="{9D541623-F0EF-4ABD-A247-A3A21B8856A0}" srcId="{DA5DFAD8-E443-4F53-9341-A0903BBBD378}" destId="{8F7DDBE9-E69B-4FF7-B9EA-C994E09E3B51}" srcOrd="1" destOrd="0" parTransId="{3A4C3FB2-416E-4C44-9332-718025D45EE4}" sibTransId="{77EB0C8C-0582-4F4E-ACE5-BCD60B24C3B2}"/>
    <dgm:cxn modelId="{E785B928-0A23-43BA-9D0D-4355335BED79}" srcId="{ABA77F75-8642-4931-8D7E-BE6C6DB9940D}" destId="{A84AA4D5-2E69-4308-B848-AF7C866DBA37}" srcOrd="0" destOrd="0" parTransId="{5AA60D0F-7C99-4FA0-90CA-9CD92DBEF3B7}" sibTransId="{195A1AC7-FDFE-47D0-B6D9-46AB9BA4736B}"/>
    <dgm:cxn modelId="{DFF8DB3A-D836-4624-BEF0-5B297B4687C8}" type="presOf" srcId="{88AD6A08-E417-4791-BE69-D194D2916E2E}" destId="{E4FD5043-5612-43C5-B6AE-CCD431549399}" srcOrd="0" destOrd="1" presId="urn:microsoft.com/office/officeart/2005/8/layout/hList1"/>
    <dgm:cxn modelId="{CA949A5F-9945-4C59-A233-D70AFFF70BDA}" srcId="{DA5DFAD8-E443-4F53-9341-A0903BBBD378}" destId="{6EE89B4E-BAED-4A90-B29D-70AF11256801}" srcOrd="0" destOrd="0" parTransId="{39BF20C7-31E5-452B-8EA2-17224A13C7FB}" sibTransId="{E71503C3-CFB7-4144-AD9F-7A42A87A3A6B}"/>
    <dgm:cxn modelId="{052CD662-FA04-4C38-BDDB-2453E96D014D}" type="presOf" srcId="{B6B39D33-D046-47BE-829F-7DE9C1355A93}" destId="{17CA1487-CDD9-4364-92F6-A11DBDAFE16C}" srcOrd="0" destOrd="1" presId="urn:microsoft.com/office/officeart/2005/8/layout/hList1"/>
    <dgm:cxn modelId="{2BB7FF46-B9CC-47C2-9BFC-7C69BEA9538A}" srcId="{ABA77F75-8642-4931-8D7E-BE6C6DB9940D}" destId="{83FBC365-F362-43B9-AB51-E86FF53F37E4}" srcOrd="2" destOrd="0" parTransId="{2E2E6F58-DDF6-40D7-92DB-62DEB42084F2}" sibTransId="{EB06FF08-67CE-47C1-A341-15BAF29071F4}"/>
    <dgm:cxn modelId="{99B68B58-AA48-4E5E-9F32-60B7C8EEAEE6}" type="presOf" srcId="{83FBC365-F362-43B9-AB51-E86FF53F37E4}" destId="{E4FD5043-5612-43C5-B6AE-CCD431549399}" srcOrd="0" destOrd="2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2A048A8A-D3E9-4D78-97F5-CDA37AB1D412}" type="presOf" srcId="{DA5DFAD8-E443-4F53-9341-A0903BBBD378}" destId="{23D06E36-F688-4B37-8BB8-73015E665B0E}" srcOrd="0" destOrd="0" presId="urn:microsoft.com/office/officeart/2005/8/layout/hList1"/>
    <dgm:cxn modelId="{DEB53E8F-DC19-4F69-9659-DBCB21652871}" srcId="{6857B86A-DEC1-407C-A1BB-5BF9ACCBCA6A}" destId="{1DB2AC88-0FC5-4533-85C1-36171D2660E7}" srcOrd="2" destOrd="0" parTransId="{87C55F37-2382-44B0-BFA2-8D4391C16F4D}" sibTransId="{51008CD8-B54E-4DA6-ADD1-FF03FB61176A}"/>
    <dgm:cxn modelId="{4BF1EEA1-6E89-4F91-BAE8-11038685C515}" type="presOf" srcId="{4C8BFA56-3F75-4CAD-90A3-2F214D699322}" destId="{17CA1487-CDD9-4364-92F6-A11DBDAFE16C}" srcOrd="0" destOrd="0" presId="urn:microsoft.com/office/officeart/2005/8/layout/hList1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0CE7D0CB-2A90-4017-8B27-7FE8CF612AB6}" type="presOf" srcId="{772AE2A8-AE17-49FF-B8F7-9F8898CED47C}" destId="{EA81ED6A-A7EA-4137-A3DC-D16E79F1B938}" srcOrd="0" destOrd="2" presId="urn:microsoft.com/office/officeart/2005/8/layout/hList1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D3BEF6D9-D3EE-4CB1-9CFB-FF5E6A6C80CF}" type="presOf" srcId="{8F7DDBE9-E69B-4FF7-B9EA-C994E09E3B51}" destId="{EA81ED6A-A7EA-4137-A3DC-D16E79F1B938}" srcOrd="0" destOrd="1" presId="urn:microsoft.com/office/officeart/2005/8/layout/hList1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1F10B5E1-369D-4E6E-B236-103BA222DCA0}" type="presOf" srcId="{1DB2AC88-0FC5-4533-85C1-36171D2660E7}" destId="{17CA1487-CDD9-4364-92F6-A11DBDAFE16C}" srcOrd="0" destOrd="2" presId="urn:microsoft.com/office/officeart/2005/8/layout/hList1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765D4AFC-C3A4-4F8B-A000-988DC6C44800}" type="presOf" srcId="{6EE89B4E-BAED-4A90-B29D-70AF11256801}" destId="{EA81ED6A-A7EA-4137-A3DC-D16E79F1B938}" srcOrd="0" destOrd="0" presId="urn:microsoft.com/office/officeart/2005/8/layout/hList1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  <dgm:cxn modelId="{697E9D8E-F51C-4123-B62B-291815C4E7C1}" type="presParOf" srcId="{DE3F77CF-6A8C-4783-A2CE-00E88C4199CB}" destId="{3FA24A66-31D3-4A69-B628-8BE88627B97D}" srcOrd="1" destOrd="0" presId="urn:microsoft.com/office/officeart/2005/8/layout/hList1"/>
    <dgm:cxn modelId="{A09CCE6C-77C7-4B5A-B9DA-7E705F8B286E}" type="presParOf" srcId="{DE3F77CF-6A8C-4783-A2CE-00E88C4199CB}" destId="{3B158D6E-E3AA-49BB-988A-758B59ED8F3B}" srcOrd="2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  <dgm:cxn modelId="{6DF49720-E4F0-4625-B768-1FADCBFE92E0}" type="presParOf" srcId="{DE3F77CF-6A8C-4783-A2CE-00E88C4199CB}" destId="{3E20F600-AFBC-427F-8295-F096F694BC17}" srcOrd="3" destOrd="0" presId="urn:microsoft.com/office/officeart/2005/8/layout/hList1"/>
    <dgm:cxn modelId="{C0F7FF12-72ED-4C65-8A42-67FCEE3903CF}" type="presParOf" srcId="{DE3F77CF-6A8C-4783-A2CE-00E88C4199CB}" destId="{173DA3A6-F783-42D4-9ED8-FD330979BCEA}" srcOrd="4" destOrd="0" presId="urn:microsoft.com/office/officeart/2005/8/layout/hList1"/>
    <dgm:cxn modelId="{67AEDA95-4E81-49EB-9136-C42824BC288A}" type="presParOf" srcId="{173DA3A6-F783-42D4-9ED8-FD330979BCEA}" destId="{23D06E36-F688-4B37-8BB8-73015E665B0E}" srcOrd="0" destOrd="0" presId="urn:microsoft.com/office/officeart/2005/8/layout/hList1"/>
    <dgm:cxn modelId="{190091E1-69E5-482F-89E9-B5A6338D6BCD}" type="presParOf" srcId="{173DA3A6-F783-42D4-9ED8-FD330979BCEA}" destId="{EA81ED6A-A7EA-4137-A3DC-D16E79F1B9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3535" y="91528"/>
          <a:ext cx="3447370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YOLOv9</a:t>
          </a:r>
        </a:p>
      </dsp:txBody>
      <dsp:txXfrm>
        <a:off x="3535" y="91528"/>
        <a:ext cx="3447370" cy="576000"/>
      </dsp:txXfrm>
    </dsp:sp>
    <dsp:sp modelId="{17CA1487-CDD9-4364-92F6-A11DBDAFE16C}">
      <dsp:nvSpPr>
        <dsp:cNvPr id="0" name=""/>
        <dsp:cNvSpPr/>
      </dsp:nvSpPr>
      <dsp:spPr>
        <a:xfrm>
          <a:off x="3535" y="667528"/>
          <a:ext cx="3447370" cy="3733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Built by </a:t>
          </a:r>
          <a:r>
            <a:rPr lang="en-US" sz="2000" kern="120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Ultralytics</a:t>
          </a: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with focus on accuracy &amp; speed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Introduces PGI (Programmable Gradient Info) and GELAN (Generalized Efficient Layer Aggregation Network).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Good balance of size, performance and generalization</a:t>
          </a:r>
        </a:p>
      </dsp:txBody>
      <dsp:txXfrm>
        <a:off x="3535" y="667528"/>
        <a:ext cx="3447370" cy="3733199"/>
      </dsp:txXfrm>
    </dsp:sp>
    <dsp:sp modelId="{055A5EAB-EAE0-4501-8649-31F112FF9AD5}">
      <dsp:nvSpPr>
        <dsp:cNvPr id="0" name=""/>
        <dsp:cNvSpPr/>
      </dsp:nvSpPr>
      <dsp:spPr>
        <a:xfrm>
          <a:off x="3933537" y="91528"/>
          <a:ext cx="3447370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YOLOv10</a:t>
          </a:r>
        </a:p>
      </dsp:txBody>
      <dsp:txXfrm>
        <a:off x="3933537" y="91528"/>
        <a:ext cx="3447370" cy="576000"/>
      </dsp:txXfrm>
    </dsp:sp>
    <dsp:sp modelId="{E4FD5043-5612-43C5-B6AE-CCD431549399}">
      <dsp:nvSpPr>
        <dsp:cNvPr id="0" name=""/>
        <dsp:cNvSpPr/>
      </dsp:nvSpPr>
      <dsp:spPr>
        <a:xfrm>
          <a:off x="3933537" y="667528"/>
          <a:ext cx="3447370" cy="3733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Released by Tsinghua University in 2024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End-to-end detection without Non-Max Suppression (NMS)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Highly efficient – fast inference but may result in lower accuracy</a:t>
          </a:r>
        </a:p>
      </dsp:txBody>
      <dsp:txXfrm>
        <a:off x="3933537" y="667528"/>
        <a:ext cx="3447370" cy="3733199"/>
      </dsp:txXfrm>
    </dsp:sp>
    <dsp:sp modelId="{23D06E36-F688-4B37-8BB8-73015E665B0E}">
      <dsp:nvSpPr>
        <dsp:cNvPr id="0" name=""/>
        <dsp:cNvSpPr/>
      </dsp:nvSpPr>
      <dsp:spPr>
        <a:xfrm>
          <a:off x="7863539" y="91528"/>
          <a:ext cx="3447370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YOLOv11</a:t>
          </a:r>
        </a:p>
      </dsp:txBody>
      <dsp:txXfrm>
        <a:off x="7863539" y="91528"/>
        <a:ext cx="3447370" cy="576000"/>
      </dsp:txXfrm>
    </dsp:sp>
    <dsp:sp modelId="{EA81ED6A-A7EA-4137-A3DC-D16E79F1B938}">
      <dsp:nvSpPr>
        <dsp:cNvPr id="0" name=""/>
        <dsp:cNvSpPr/>
      </dsp:nvSpPr>
      <dsp:spPr>
        <a:xfrm>
          <a:off x="7863539" y="667528"/>
          <a:ext cx="3447370" cy="3733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Latest </a:t>
          </a:r>
          <a:r>
            <a:rPr lang="en-US" sz="2000" kern="120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Ultralytics</a:t>
          </a: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model (May 2024)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Enhance multi-task support (detection, segmentation, classification)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0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Strong architecture, but less stable on our snow dataset</a:t>
          </a:r>
        </a:p>
      </dsp:txBody>
      <dsp:txXfrm>
        <a:off x="7863539" y="667528"/>
        <a:ext cx="3447370" cy="3733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>
                <a:latin typeface="Rockwell" panose="02060603020205020403" pitchFamily="18" charset="0"/>
              </a:rPr>
              <a:t>Car detection in snow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>
                <a:latin typeface="Tahoma"/>
                <a:ea typeface="Tahoma"/>
                <a:cs typeface="Tahoma"/>
              </a:rPr>
              <a:t>Group 16</a:t>
            </a: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>
                <a:latin typeface="Tahoma"/>
                <a:ea typeface="Tahoma"/>
                <a:cs typeface="Tahoma"/>
              </a:rPr>
              <a:t>Ayman </a:t>
            </a:r>
            <a:r>
              <a:rPr lang="en-US" sz="2400" err="1">
                <a:latin typeface="Tahoma"/>
                <a:ea typeface="Tahoma"/>
                <a:cs typeface="Tahoma"/>
              </a:rPr>
              <a:t>abdul</a:t>
            </a:r>
            <a:r>
              <a:rPr lang="en-US" sz="2400">
                <a:latin typeface="Tahoma"/>
                <a:ea typeface="Tahoma"/>
                <a:cs typeface="Tahoma"/>
              </a:rPr>
              <a:t> </a:t>
            </a:r>
            <a:r>
              <a:rPr lang="en-US" sz="2400" err="1">
                <a:latin typeface="Tahoma"/>
                <a:ea typeface="Tahoma"/>
                <a:cs typeface="Tahoma"/>
              </a:rPr>
              <a:t>aziz</a:t>
            </a:r>
            <a:r>
              <a:rPr lang="en-US" sz="2400">
                <a:latin typeface="Tahoma"/>
                <a:ea typeface="Tahoma"/>
                <a:cs typeface="Tahoma"/>
              </a:rPr>
              <a:t>, Talat can </a:t>
            </a:r>
            <a:r>
              <a:rPr lang="en-US" sz="2400" err="1">
                <a:latin typeface="Tahoma"/>
                <a:ea typeface="Tahoma"/>
                <a:cs typeface="Tahoma"/>
              </a:rPr>
              <a:t>atilgan</a:t>
            </a:r>
            <a:r>
              <a:rPr lang="en-US" sz="2400">
                <a:latin typeface="Tahoma"/>
                <a:ea typeface="Tahoma"/>
                <a:cs typeface="Tahoma"/>
              </a:rPr>
              <a:t>, </a:t>
            </a:r>
            <a:r>
              <a:rPr lang="en-US" sz="2400" err="1">
                <a:latin typeface="Tahoma"/>
                <a:ea typeface="Tahoma"/>
                <a:cs typeface="Tahoma"/>
              </a:rPr>
              <a:t>jonathan</a:t>
            </a:r>
            <a:r>
              <a:rPr lang="en-US" sz="2400">
                <a:latin typeface="Tahoma"/>
                <a:ea typeface="Tahoma"/>
                <a:cs typeface="Tahoma"/>
              </a:rPr>
              <a:t> </a:t>
            </a:r>
            <a:r>
              <a:rPr lang="en-US" sz="2400" err="1">
                <a:latin typeface="Tahoma"/>
                <a:ea typeface="Tahoma"/>
                <a:cs typeface="Tahoma"/>
              </a:rPr>
              <a:t>chen</a:t>
            </a:r>
            <a:r>
              <a:rPr lang="en-US" sz="2400">
                <a:latin typeface="Tahoma"/>
                <a:ea typeface="Tahoma"/>
                <a:cs typeface="Tahoma"/>
              </a:rPr>
              <a:t>, </a:t>
            </a:r>
            <a:r>
              <a:rPr lang="en-US" sz="2400" err="1">
                <a:latin typeface="Tahoma"/>
                <a:ea typeface="Tahoma"/>
                <a:cs typeface="Tahoma"/>
              </a:rPr>
              <a:t>stefan</a:t>
            </a:r>
            <a:r>
              <a:rPr lang="en-US" sz="2400">
                <a:latin typeface="Tahoma"/>
                <a:ea typeface="Tahoma"/>
                <a:cs typeface="Tahoma"/>
              </a:rPr>
              <a:t> H</a:t>
            </a:r>
            <a:r>
              <a:rPr lang="en-US" sz="2400">
                <a:ea typeface="+mn-lt"/>
                <a:cs typeface="+mn-lt"/>
              </a:rPr>
              <a:t>öglund, </a:t>
            </a:r>
            <a:r>
              <a:rPr lang="en-US" sz="2400" err="1">
                <a:ea typeface="+mn-lt"/>
                <a:cs typeface="+mn-lt"/>
              </a:rPr>
              <a:t>Srivikass</a:t>
            </a:r>
            <a:r>
              <a:rPr lang="en-US" sz="2400">
                <a:ea typeface="+mn-lt"/>
                <a:cs typeface="+mn-lt"/>
              </a:rPr>
              <a:t> jeyaprakash</a:t>
            </a: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Dataset and training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929858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Annotated snowy road scenes in YOLO format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Images resized to 640x640 for training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and validation after each epoch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 best model</a:t>
            </a:r>
          </a:p>
          <a:p>
            <a:pPr lvl="1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Parameters: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Epochs: 50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Batch size: 16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Workers: 4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988309-B386-4058-9F0A-B77015060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" t="3" r="24918" b="25460"/>
          <a:stretch/>
        </p:blipFill>
        <p:spPr>
          <a:xfrm>
            <a:off x="6094412" y="1660769"/>
            <a:ext cx="5112000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Models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835662"/>
              </p:ext>
            </p:extLst>
          </p:nvPr>
        </p:nvGraphicFramePr>
        <p:xfrm>
          <a:off x="477061" y="1871331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6F32-4E82-533C-CA49-C065F65B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42C0-284B-8ECF-46ED-5426E0CF0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1" y="476950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Models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66BF-0F10-E62C-03AC-030268E0A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6789" y="1928764"/>
            <a:ext cx="4878389" cy="4929236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US" sz="27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Validation box loss</a:t>
            </a:r>
          </a:p>
          <a:p>
            <a:pPr lvl="2"/>
            <a:r>
              <a:rPr lang="en-US" altLang="en-US" sz="2500">
                <a:latin typeface="Arial" panose="020B0604020202020204" pitchFamily="34" charset="0"/>
              </a:rPr>
              <a:t>All models show steady loss reduction, indicating effective learning.</a:t>
            </a:r>
          </a:p>
          <a:p>
            <a:pPr lvl="2"/>
            <a:r>
              <a:rPr lang="en-US" altLang="en-US" sz="2500">
                <a:latin typeface="Arial" panose="020B0604020202020204" pitchFamily="34" charset="0"/>
              </a:rPr>
              <a:t>YOLOv9 converges the fastest with the lowest final loss → best localization accuracy</a:t>
            </a:r>
            <a:endParaRPr lang="en-US" sz="2500">
              <a:latin typeface="Arial" panose="020B0604020202020204" pitchFamily="34" charset="0"/>
            </a:endParaRPr>
          </a:p>
          <a:p>
            <a:pPr lvl="1"/>
            <a:r>
              <a:rPr lang="en-US" sz="27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mAP50</a:t>
            </a:r>
          </a:p>
          <a:p>
            <a:pPr lvl="2"/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YOLOv9 achieves a sharp rise early and maintains the highest accuracy.</a:t>
            </a:r>
          </a:p>
          <a:p>
            <a:pPr lvl="2"/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YOLOv10 improves slowly</a:t>
            </a:r>
          </a:p>
          <a:p>
            <a:pPr lvl="2"/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YOLOv11 is close to YOLOv9, but slightly lower.</a:t>
            </a:r>
          </a:p>
          <a:p>
            <a:pPr lvl="2"/>
            <a:endParaRPr lang="en-US" sz="2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endParaRPr lang="en-US" sz="2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310A343-3363-4529-588A-7E54741D5F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17CD0D-152C-B7FD-DAD6-76AD955FD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763" y="2524836"/>
            <a:ext cx="6541288" cy="325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4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859E-4E9F-86DA-9CEE-304556F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B8C6-9D66-808D-756D-77025326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1" y="476950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Models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3382A-C3F4-4063-069A-90D96CD78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7106" y="1928764"/>
            <a:ext cx="4878389" cy="4929236"/>
          </a:xfrm>
        </p:spPr>
        <p:txBody>
          <a:bodyPr>
            <a:normAutofit/>
          </a:bodyPr>
          <a:lstStyle/>
          <a:p>
            <a:pPr lvl="1"/>
            <a:r>
              <a:rPr lang="en-US" sz="2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Precision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100">
                <a:latin typeface="Arial" panose="020B0604020202020204" pitchFamily="34" charset="0"/>
              </a:rPr>
              <a:t> YOLOv9 quickly reaches high precision and stays stable.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100">
                <a:latin typeface="Arial" panose="020B0604020202020204" pitchFamily="34" charset="0"/>
              </a:rPr>
              <a:t> YOLOv10 ends lower;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100">
                <a:latin typeface="Arial" panose="020B0604020202020204" pitchFamily="34" charset="0"/>
              </a:rPr>
              <a:t> YOLOv11 performs between v9 and v10.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en-US" sz="2200">
              <a:latin typeface="Arial" panose="020B06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sz="2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Recall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100">
                <a:latin typeface="Arial" panose="020B0604020202020204" pitchFamily="34" charset="0"/>
              </a:rPr>
              <a:t>YOLOv11 shows the highest final recall (fewer missed cars).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100">
                <a:latin typeface="Arial" panose="020B0604020202020204" pitchFamily="34" charset="0"/>
              </a:rPr>
              <a:t>YOLOv9 is very close, with more stable recall performance.</a:t>
            </a:r>
            <a:endParaRPr lang="en-US" sz="2100">
              <a:latin typeface="Arial" panose="020B0604020202020204" pitchFamily="34" charset="0"/>
            </a:endParaRPr>
          </a:p>
          <a:p>
            <a:pPr lvl="4"/>
            <a:endParaRPr lang="en-US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5209DD7-12E2-6638-729B-9E58ED351B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0272E-C84A-8D91-AB62-961C801E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9" b="421"/>
          <a:stretch/>
        </p:blipFill>
        <p:spPr>
          <a:xfrm>
            <a:off x="5475495" y="2449773"/>
            <a:ext cx="6573204" cy="320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9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>
                <a:latin typeface="Tahoma"/>
                <a:ea typeface="Tahoma"/>
                <a:cs typeface="Tahoma"/>
              </a:rPr>
              <a:t>YOLOv9 is best suited for snow-based car detection</a:t>
            </a:r>
          </a:p>
          <a:p>
            <a:pPr lvl="0"/>
            <a:r>
              <a:rPr lang="en-US">
                <a:latin typeface="Tahoma"/>
                <a:ea typeface="Tahoma"/>
                <a:cs typeface="Tahoma"/>
              </a:rPr>
              <a:t>Achieved highest mAP50, precision and recall</a:t>
            </a:r>
          </a:p>
          <a:p>
            <a:r>
              <a:rPr lang="en-US">
                <a:latin typeface="Tahoma"/>
                <a:ea typeface="Tahoma"/>
                <a:cs typeface="Tahoma"/>
              </a:rPr>
              <a:t>Future work: Extend training dataset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1CA9-2872-8B62-618F-A0879F95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89595"/>
            <a:ext cx="9905998" cy="1478570"/>
          </a:xfrm>
        </p:spPr>
        <p:txBody>
          <a:bodyPr/>
          <a:lstStyle/>
          <a:p>
            <a:pPr algn="ctr"/>
            <a:r>
              <a:rPr lang="en-GB" err="1"/>
              <a:t>THank</a:t>
            </a:r>
            <a:r>
              <a:rPr lang="en-GB"/>
              <a:t> you!</a:t>
            </a:r>
          </a:p>
        </p:txBody>
      </p:sp>
    </p:spTree>
    <p:extLst>
      <p:ext uri="{BB962C8B-B14F-4D97-AF65-F5344CB8AC3E}">
        <p14:creationId xmlns:p14="http://schemas.microsoft.com/office/powerpoint/2010/main" val="1694475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73CCB-98BE-21BF-C05A-0CBB85796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3DF6-66BD-A83C-EDC8-7F7036D9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Confusion matrix – YOLOv9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D7504-291B-B6FC-BC22-440E6AF94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574" y="1931158"/>
            <a:ext cx="4798288" cy="4784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86165B-BACA-0323-BCAA-C1391F237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46" b="2123"/>
          <a:stretch/>
        </p:blipFill>
        <p:spPr>
          <a:xfrm>
            <a:off x="6155141" y="1931482"/>
            <a:ext cx="5165678" cy="478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8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0950-9A29-4283-19AE-AB41FB7C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5208-ABFF-A381-B701-2EDA47849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Precision – YOLOv9</a:t>
            </a:r>
          </a:p>
        </p:txBody>
      </p:sp>
      <p:pic>
        <p:nvPicPr>
          <p:cNvPr id="4" name="Picture 3" descr="A graph with a blue line&#10;&#10;AI-generated content may be incorrect.">
            <a:extLst>
              <a:ext uri="{FF2B5EF4-FFF2-40B4-BE49-F238E27FC236}">
                <a16:creationId xmlns:a16="http://schemas.microsoft.com/office/drawing/2014/main" id="{CB3CE795-838A-7E73-B558-D012BE69F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468" y="1880636"/>
            <a:ext cx="7044971" cy="469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8386-1FEF-D315-25B1-436BF8309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465A-3A5A-D30F-B3B2-FA8759B1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Recall – YOLOv9</a:t>
            </a:r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CBB6644A-7A0D-9B4C-CF1F-3E112928E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11" y="1881760"/>
            <a:ext cx="7124777" cy="474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4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2598D-7CBF-339B-4EAA-80CBE604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47DD-3EBC-A917-A4C3-C6503077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Precision-recall Curve-yolov9</a:t>
            </a:r>
          </a:p>
        </p:txBody>
      </p:sp>
      <p:pic>
        <p:nvPicPr>
          <p:cNvPr id="7" name="Picture 6" descr="A graph of a car&#10;&#10;AI-generated content may be incorrect.">
            <a:extLst>
              <a:ext uri="{FF2B5EF4-FFF2-40B4-BE49-F238E27FC236}">
                <a16:creationId xmlns:a16="http://schemas.microsoft.com/office/drawing/2014/main" id="{4A84936F-2053-4AD8-AFB0-E4FFCFBA5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266" y="1806930"/>
            <a:ext cx="7255468" cy="483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53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A8307-507A-90B5-8C1B-8D41281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CD14A-7105-35FF-EC4F-5EE60D9A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Rockwell" panose="02060603020205020403" pitchFamily="18" charset="0"/>
              </a:rPr>
              <a:t>F1 Curve-yolov9</a:t>
            </a:r>
          </a:p>
        </p:txBody>
      </p:sp>
      <p:pic>
        <p:nvPicPr>
          <p:cNvPr id="4" name="Picture 3" descr="A graph of a car&#10;&#10;AI-generated content may be incorrect.">
            <a:extLst>
              <a:ext uri="{FF2B5EF4-FFF2-40B4-BE49-F238E27FC236}">
                <a16:creationId xmlns:a16="http://schemas.microsoft.com/office/drawing/2014/main" id="{C51D203F-044B-8E46-CBBC-1B6A0771B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409" y="1908969"/>
            <a:ext cx="6984006" cy="465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57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F763D-6505-407F-C58F-0049CE10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7930-6D8E-B56D-A2B1-A683C096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r>
              <a:rPr lang="en-US"/>
              <a:t>Yolov9 validation batch 0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A46419-455B-8889-7837-C8552EBB4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211" y="2249487"/>
            <a:ext cx="6186400" cy="35417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666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47F54-D890-58A3-FAB1-E5BD7ED9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CBD2-B2EB-65E9-F65D-F616BAC6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r>
              <a:rPr lang="en-US"/>
              <a:t>Yolov9 validation batch 1</a:t>
            </a:r>
          </a:p>
        </p:txBody>
      </p:sp>
      <p:pic>
        <p:nvPicPr>
          <p:cNvPr id="4" name="Picture 3" descr="A collage of images of buildings&#10;&#10;AI-generated content may be incorrect.">
            <a:extLst>
              <a:ext uri="{FF2B5EF4-FFF2-40B4-BE49-F238E27FC236}">
                <a16:creationId xmlns:a16="http://schemas.microsoft.com/office/drawing/2014/main" id="{C3AA496A-1D0E-77AF-B739-407E5DD75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211" y="2249487"/>
            <a:ext cx="6186400" cy="35417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8208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7736-2E40-1A6D-AA98-4EAA17D7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7D27-1E70-BDCC-2E5E-214A2139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anchor="ctr">
            <a:normAutofit/>
          </a:bodyPr>
          <a:lstStyle/>
          <a:p>
            <a:r>
              <a:rPr lang="en-US"/>
              <a:t>Yolov9 validation batch 2</a:t>
            </a:r>
          </a:p>
        </p:txBody>
      </p:sp>
      <p:pic>
        <p:nvPicPr>
          <p:cNvPr id="5" name="Picture 4" descr="A collage of images of a village&#10;&#10;AI-generated content may be incorrect.">
            <a:extLst>
              <a:ext uri="{FF2B5EF4-FFF2-40B4-BE49-F238E27FC236}">
                <a16:creationId xmlns:a16="http://schemas.microsoft.com/office/drawing/2014/main" id="{E0D703CB-0A0E-DCE5-1A8A-6D8FE8E8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211" y="2249487"/>
            <a:ext cx="6186400" cy="35417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0502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d9061f-c460-47aa-ac55-cee568e09be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6F361AB3695544A136CA68B363FB94" ma:contentTypeVersion="6" ma:contentTypeDescription="Create a new document." ma:contentTypeScope="" ma:versionID="ca5ef75a4f996263e067756c8c053173">
  <xsd:schema xmlns:xsd="http://www.w3.org/2001/XMLSchema" xmlns:xs="http://www.w3.org/2001/XMLSchema" xmlns:p="http://schemas.microsoft.com/office/2006/metadata/properties" xmlns:ns3="6bd9061f-c460-47aa-ac55-cee568e09beb" targetNamespace="http://schemas.microsoft.com/office/2006/metadata/properties" ma:root="true" ma:fieldsID="53102a0304cff11849e50ba70a377192" ns3:_="">
    <xsd:import namespace="6bd9061f-c460-47aa-ac55-cee568e09be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9061f-c460-47aa-ac55-cee568e09be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6bd9061f-c460-47aa-ac55-cee568e09b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6D7D52-EF13-4FEC-95E1-F2A1D46552B5}">
  <ds:schemaRefs>
    <ds:schemaRef ds:uri="6bd9061f-c460-47aa-ac55-cee568e09b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Circuit</vt:lpstr>
      <vt:lpstr>Car detection in snow</vt:lpstr>
      <vt:lpstr>Dataset and training setup</vt:lpstr>
      <vt:lpstr>Models Comparison</vt:lpstr>
      <vt:lpstr>Models Comparison</vt:lpstr>
      <vt:lpstr>Models Comparison</vt:lpstr>
      <vt:lpstr>Conclusion and future work</vt:lpstr>
      <vt:lpstr>THank you!</vt:lpstr>
      <vt:lpstr>Confusion matrix – YOLOv9</vt:lpstr>
      <vt:lpstr>Precision – YOLOv9</vt:lpstr>
      <vt:lpstr>Recall – YOLOv9</vt:lpstr>
      <vt:lpstr>Precision-recall Curve-yolov9</vt:lpstr>
      <vt:lpstr>F1 Curve-yolov9</vt:lpstr>
      <vt:lpstr>Yolov9 validation batch 0</vt:lpstr>
      <vt:lpstr>Yolov9 validation batch 1</vt:lpstr>
      <vt:lpstr>Yolov9 validation batch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Ayman Abdul Aziz</dc:creator>
  <cp:revision>1</cp:revision>
  <dcterms:created xsi:type="dcterms:W3CDTF">2025-05-18T13:14:01Z</dcterms:created>
  <dcterms:modified xsi:type="dcterms:W3CDTF">2025-05-18T15:59:11Z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0x010100F16F361AB3695544A136CA68B363FB94</vt:lpwstr>
  </property>
</Properties>
</file>